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E8ABD0-96C3-452D-9D88-021F43B7F1D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5E9EEC-9E10-46FE-A69D-F4485CEA9234}">
      <dgm:prSet/>
      <dgm:spPr/>
      <dgm:t>
        <a:bodyPr/>
        <a:lstStyle/>
        <a:p>
          <a:r>
            <a:rPr lang="en-IN"/>
            <a:t>The main objectives of this project are:</a:t>
          </a:r>
          <a:endParaRPr lang="en-US"/>
        </a:p>
      </dgm:t>
    </dgm:pt>
    <dgm:pt modelId="{3D9F2AEE-8BF4-404B-9F2D-838EE9840608}" type="parTrans" cxnId="{A3FBF8C1-C685-455A-BD62-D4EBE432215E}">
      <dgm:prSet/>
      <dgm:spPr/>
      <dgm:t>
        <a:bodyPr/>
        <a:lstStyle/>
        <a:p>
          <a:endParaRPr lang="en-US"/>
        </a:p>
      </dgm:t>
    </dgm:pt>
    <dgm:pt modelId="{6C756DED-9F5F-4F3F-A217-829E64CE6267}" type="sibTrans" cxnId="{A3FBF8C1-C685-455A-BD62-D4EBE432215E}">
      <dgm:prSet/>
      <dgm:spPr/>
      <dgm:t>
        <a:bodyPr/>
        <a:lstStyle/>
        <a:p>
          <a:endParaRPr lang="en-US"/>
        </a:p>
      </dgm:t>
    </dgm:pt>
    <dgm:pt modelId="{5A4EF88C-B5F4-423E-A72A-5519E9E2D760}">
      <dgm:prSet/>
      <dgm:spPr/>
      <dgm:t>
        <a:bodyPr/>
        <a:lstStyle/>
        <a:p>
          <a:r>
            <a:rPr lang="en-IN"/>
            <a:t>✔ Perform data cleaning and preprocessing on raw sales data</a:t>
          </a:r>
          <a:endParaRPr lang="en-US"/>
        </a:p>
      </dgm:t>
    </dgm:pt>
    <dgm:pt modelId="{6235B3C0-418D-4CE6-B169-70F8B8AF55C9}" type="parTrans" cxnId="{0502D508-CB88-48BF-A871-75B0C97F8B55}">
      <dgm:prSet/>
      <dgm:spPr/>
      <dgm:t>
        <a:bodyPr/>
        <a:lstStyle/>
        <a:p>
          <a:endParaRPr lang="en-US"/>
        </a:p>
      </dgm:t>
    </dgm:pt>
    <dgm:pt modelId="{EA1029A0-F73D-465F-86BB-7A072DA1CBBA}" type="sibTrans" cxnId="{0502D508-CB88-48BF-A871-75B0C97F8B55}">
      <dgm:prSet/>
      <dgm:spPr/>
      <dgm:t>
        <a:bodyPr/>
        <a:lstStyle/>
        <a:p>
          <a:endParaRPr lang="en-US"/>
        </a:p>
      </dgm:t>
    </dgm:pt>
    <dgm:pt modelId="{4BFFA425-1935-41F2-8D3B-E3587D6092F7}">
      <dgm:prSet/>
      <dgm:spPr/>
      <dgm:t>
        <a:bodyPr/>
        <a:lstStyle/>
        <a:p>
          <a:r>
            <a:rPr lang="en-IN"/>
            <a:t>✔ Conduct Exploratory Data Analysis (EDA) to discover hidden patterns</a:t>
          </a:r>
          <a:endParaRPr lang="en-US"/>
        </a:p>
      </dgm:t>
    </dgm:pt>
    <dgm:pt modelId="{B02067A2-8350-48F4-AE28-5FBB310F7803}" type="parTrans" cxnId="{0178F8F2-49AE-4365-B3CD-B02C9E44B20D}">
      <dgm:prSet/>
      <dgm:spPr/>
      <dgm:t>
        <a:bodyPr/>
        <a:lstStyle/>
        <a:p>
          <a:endParaRPr lang="en-US"/>
        </a:p>
      </dgm:t>
    </dgm:pt>
    <dgm:pt modelId="{B11F05B9-9D03-4A0D-923D-2F9F4493AB9F}" type="sibTrans" cxnId="{0178F8F2-49AE-4365-B3CD-B02C9E44B20D}">
      <dgm:prSet/>
      <dgm:spPr/>
      <dgm:t>
        <a:bodyPr/>
        <a:lstStyle/>
        <a:p>
          <a:endParaRPr lang="en-US"/>
        </a:p>
      </dgm:t>
    </dgm:pt>
    <dgm:pt modelId="{0BCD4825-F4EC-4BE4-A8B3-DC231D06D3E8}">
      <dgm:prSet/>
      <dgm:spPr/>
      <dgm:t>
        <a:bodyPr/>
        <a:lstStyle/>
        <a:p>
          <a:r>
            <a:rPr lang="en-IN"/>
            <a:t>✔ Analyze sales performance across different categories and regions</a:t>
          </a:r>
          <a:endParaRPr lang="en-US"/>
        </a:p>
      </dgm:t>
    </dgm:pt>
    <dgm:pt modelId="{CFFA356D-195F-4084-AFDD-BD825663B0A2}" type="parTrans" cxnId="{51936CFB-E506-4741-A53F-3E73775761C2}">
      <dgm:prSet/>
      <dgm:spPr/>
      <dgm:t>
        <a:bodyPr/>
        <a:lstStyle/>
        <a:p>
          <a:endParaRPr lang="en-US"/>
        </a:p>
      </dgm:t>
    </dgm:pt>
    <dgm:pt modelId="{1361DB3F-2733-4D7B-928F-F2C596E6BD82}" type="sibTrans" cxnId="{51936CFB-E506-4741-A53F-3E73775761C2}">
      <dgm:prSet/>
      <dgm:spPr/>
      <dgm:t>
        <a:bodyPr/>
        <a:lstStyle/>
        <a:p>
          <a:endParaRPr lang="en-US"/>
        </a:p>
      </dgm:t>
    </dgm:pt>
    <dgm:pt modelId="{79C057EA-EF7D-44B6-9610-2347EFCAAF69}">
      <dgm:prSet/>
      <dgm:spPr/>
      <dgm:t>
        <a:bodyPr/>
        <a:lstStyle/>
        <a:p>
          <a:r>
            <a:rPr lang="en-IN"/>
            <a:t>✔ Understand customer purchasing behavior</a:t>
          </a:r>
          <a:endParaRPr lang="en-US"/>
        </a:p>
      </dgm:t>
    </dgm:pt>
    <dgm:pt modelId="{CB0829CC-5A15-4F70-9A33-F87E9CECBBBB}" type="parTrans" cxnId="{FF9738F9-F52F-4EF8-952F-3C064F7718FB}">
      <dgm:prSet/>
      <dgm:spPr/>
      <dgm:t>
        <a:bodyPr/>
        <a:lstStyle/>
        <a:p>
          <a:endParaRPr lang="en-US"/>
        </a:p>
      </dgm:t>
    </dgm:pt>
    <dgm:pt modelId="{31B56626-766B-4793-8FFA-FCB930780145}" type="sibTrans" cxnId="{FF9738F9-F52F-4EF8-952F-3C064F7718FB}">
      <dgm:prSet/>
      <dgm:spPr/>
      <dgm:t>
        <a:bodyPr/>
        <a:lstStyle/>
        <a:p>
          <a:endParaRPr lang="en-US"/>
        </a:p>
      </dgm:t>
    </dgm:pt>
    <dgm:pt modelId="{22AF9394-47C9-4C07-AD17-B750BE105411}">
      <dgm:prSet/>
      <dgm:spPr/>
      <dgm:t>
        <a:bodyPr/>
        <a:lstStyle/>
        <a:p>
          <a:r>
            <a:rPr lang="en-IN"/>
            <a:t>✔ Develop an interactive Power BI dashboard</a:t>
          </a:r>
          <a:endParaRPr lang="en-US"/>
        </a:p>
      </dgm:t>
    </dgm:pt>
    <dgm:pt modelId="{18252059-0403-4E9E-A4D6-87F1EEE0BAB0}" type="parTrans" cxnId="{91EB6466-53CD-43A0-B380-028A328E1C2F}">
      <dgm:prSet/>
      <dgm:spPr/>
      <dgm:t>
        <a:bodyPr/>
        <a:lstStyle/>
        <a:p>
          <a:endParaRPr lang="en-US"/>
        </a:p>
      </dgm:t>
    </dgm:pt>
    <dgm:pt modelId="{13F8AA53-4959-4801-8D78-1BA52495B9CC}" type="sibTrans" cxnId="{91EB6466-53CD-43A0-B380-028A328E1C2F}">
      <dgm:prSet/>
      <dgm:spPr/>
      <dgm:t>
        <a:bodyPr/>
        <a:lstStyle/>
        <a:p>
          <a:endParaRPr lang="en-US"/>
        </a:p>
      </dgm:t>
    </dgm:pt>
    <dgm:pt modelId="{127985C6-6509-4ED6-A187-5CDDC011173D}">
      <dgm:prSet/>
      <dgm:spPr/>
      <dgm:t>
        <a:bodyPr/>
        <a:lstStyle/>
        <a:p>
          <a:r>
            <a:rPr lang="en-IN"/>
            <a:t>✔ Generate business recommendations from analytical insights</a:t>
          </a:r>
          <a:endParaRPr lang="en-US"/>
        </a:p>
      </dgm:t>
    </dgm:pt>
    <dgm:pt modelId="{50314B68-AA48-44B8-96B8-DC7A8E232214}" type="parTrans" cxnId="{4FB43385-D322-41B6-B150-AB21BE232638}">
      <dgm:prSet/>
      <dgm:spPr/>
      <dgm:t>
        <a:bodyPr/>
        <a:lstStyle/>
        <a:p>
          <a:endParaRPr lang="en-US"/>
        </a:p>
      </dgm:t>
    </dgm:pt>
    <dgm:pt modelId="{D7F119C9-B3FC-4314-ADE5-15216DB20B33}" type="sibTrans" cxnId="{4FB43385-D322-41B6-B150-AB21BE232638}">
      <dgm:prSet/>
      <dgm:spPr/>
      <dgm:t>
        <a:bodyPr/>
        <a:lstStyle/>
        <a:p>
          <a:endParaRPr lang="en-US"/>
        </a:p>
      </dgm:t>
    </dgm:pt>
    <dgm:pt modelId="{68436E8F-284B-4CD9-8D1E-A051E71404A3}" type="pres">
      <dgm:prSet presAssocID="{FBE8ABD0-96C3-452D-9D88-021F43B7F1D8}" presName="vert0" presStyleCnt="0">
        <dgm:presLayoutVars>
          <dgm:dir/>
          <dgm:animOne val="branch"/>
          <dgm:animLvl val="lvl"/>
        </dgm:presLayoutVars>
      </dgm:prSet>
      <dgm:spPr/>
    </dgm:pt>
    <dgm:pt modelId="{AA9C8526-CC74-4D5F-944F-83D9C3F49B87}" type="pres">
      <dgm:prSet presAssocID="{775E9EEC-9E10-46FE-A69D-F4485CEA9234}" presName="thickLine" presStyleLbl="alignNode1" presStyleIdx="0" presStyleCnt="7"/>
      <dgm:spPr/>
    </dgm:pt>
    <dgm:pt modelId="{00D87C45-C7DB-4CFB-B626-86A98E282117}" type="pres">
      <dgm:prSet presAssocID="{775E9EEC-9E10-46FE-A69D-F4485CEA9234}" presName="horz1" presStyleCnt="0"/>
      <dgm:spPr/>
    </dgm:pt>
    <dgm:pt modelId="{4C34DBB5-7A84-4068-BF2F-381C84C4AFA9}" type="pres">
      <dgm:prSet presAssocID="{775E9EEC-9E10-46FE-A69D-F4485CEA9234}" presName="tx1" presStyleLbl="revTx" presStyleIdx="0" presStyleCnt="7"/>
      <dgm:spPr/>
    </dgm:pt>
    <dgm:pt modelId="{E89A7D04-DCDD-4367-9795-20F0F7D2E460}" type="pres">
      <dgm:prSet presAssocID="{775E9EEC-9E10-46FE-A69D-F4485CEA9234}" presName="vert1" presStyleCnt="0"/>
      <dgm:spPr/>
    </dgm:pt>
    <dgm:pt modelId="{CCCB98B9-7FF2-409E-B4B4-24DD3AB431F0}" type="pres">
      <dgm:prSet presAssocID="{5A4EF88C-B5F4-423E-A72A-5519E9E2D760}" presName="thickLine" presStyleLbl="alignNode1" presStyleIdx="1" presStyleCnt="7"/>
      <dgm:spPr/>
    </dgm:pt>
    <dgm:pt modelId="{8DA6FCF8-7F31-455F-8D45-634F47E20845}" type="pres">
      <dgm:prSet presAssocID="{5A4EF88C-B5F4-423E-A72A-5519E9E2D760}" presName="horz1" presStyleCnt="0"/>
      <dgm:spPr/>
    </dgm:pt>
    <dgm:pt modelId="{8B9668A6-63FC-45E4-991C-C907861B310A}" type="pres">
      <dgm:prSet presAssocID="{5A4EF88C-B5F4-423E-A72A-5519E9E2D760}" presName="tx1" presStyleLbl="revTx" presStyleIdx="1" presStyleCnt="7"/>
      <dgm:spPr/>
    </dgm:pt>
    <dgm:pt modelId="{04706728-27DA-4E58-B5F3-3C82DA29CCF4}" type="pres">
      <dgm:prSet presAssocID="{5A4EF88C-B5F4-423E-A72A-5519E9E2D760}" presName="vert1" presStyleCnt="0"/>
      <dgm:spPr/>
    </dgm:pt>
    <dgm:pt modelId="{E0869317-B950-46B3-ADB8-6C067C7704BD}" type="pres">
      <dgm:prSet presAssocID="{4BFFA425-1935-41F2-8D3B-E3587D6092F7}" presName="thickLine" presStyleLbl="alignNode1" presStyleIdx="2" presStyleCnt="7"/>
      <dgm:spPr/>
    </dgm:pt>
    <dgm:pt modelId="{47F18AC8-2407-45AB-A581-CFE579E8BEC6}" type="pres">
      <dgm:prSet presAssocID="{4BFFA425-1935-41F2-8D3B-E3587D6092F7}" presName="horz1" presStyleCnt="0"/>
      <dgm:spPr/>
    </dgm:pt>
    <dgm:pt modelId="{85ACC013-D3D2-4BCC-8898-7580A19DB997}" type="pres">
      <dgm:prSet presAssocID="{4BFFA425-1935-41F2-8D3B-E3587D6092F7}" presName="tx1" presStyleLbl="revTx" presStyleIdx="2" presStyleCnt="7"/>
      <dgm:spPr/>
    </dgm:pt>
    <dgm:pt modelId="{32CD1B7C-8A7D-402E-866D-649A88987D74}" type="pres">
      <dgm:prSet presAssocID="{4BFFA425-1935-41F2-8D3B-E3587D6092F7}" presName="vert1" presStyleCnt="0"/>
      <dgm:spPr/>
    </dgm:pt>
    <dgm:pt modelId="{C0FE2E9F-5F7F-43D7-A7C6-301C30CE76BC}" type="pres">
      <dgm:prSet presAssocID="{0BCD4825-F4EC-4BE4-A8B3-DC231D06D3E8}" presName="thickLine" presStyleLbl="alignNode1" presStyleIdx="3" presStyleCnt="7"/>
      <dgm:spPr/>
    </dgm:pt>
    <dgm:pt modelId="{DDE4613D-7612-4F44-95BB-C6D2869F7F4A}" type="pres">
      <dgm:prSet presAssocID="{0BCD4825-F4EC-4BE4-A8B3-DC231D06D3E8}" presName="horz1" presStyleCnt="0"/>
      <dgm:spPr/>
    </dgm:pt>
    <dgm:pt modelId="{7EEBB9BE-72D8-42AA-9C45-60A8A7B9553B}" type="pres">
      <dgm:prSet presAssocID="{0BCD4825-F4EC-4BE4-A8B3-DC231D06D3E8}" presName="tx1" presStyleLbl="revTx" presStyleIdx="3" presStyleCnt="7"/>
      <dgm:spPr/>
    </dgm:pt>
    <dgm:pt modelId="{68FDF499-126E-4153-83C0-E598084B8A9E}" type="pres">
      <dgm:prSet presAssocID="{0BCD4825-F4EC-4BE4-A8B3-DC231D06D3E8}" presName="vert1" presStyleCnt="0"/>
      <dgm:spPr/>
    </dgm:pt>
    <dgm:pt modelId="{4D915A75-A496-46C0-AE26-65815373D9F0}" type="pres">
      <dgm:prSet presAssocID="{79C057EA-EF7D-44B6-9610-2347EFCAAF69}" presName="thickLine" presStyleLbl="alignNode1" presStyleIdx="4" presStyleCnt="7"/>
      <dgm:spPr/>
    </dgm:pt>
    <dgm:pt modelId="{9DA5DB9F-66E6-49A8-A0AA-813CA9175242}" type="pres">
      <dgm:prSet presAssocID="{79C057EA-EF7D-44B6-9610-2347EFCAAF69}" presName="horz1" presStyleCnt="0"/>
      <dgm:spPr/>
    </dgm:pt>
    <dgm:pt modelId="{FB031752-37D6-48B1-ADCD-09495F5E3602}" type="pres">
      <dgm:prSet presAssocID="{79C057EA-EF7D-44B6-9610-2347EFCAAF69}" presName="tx1" presStyleLbl="revTx" presStyleIdx="4" presStyleCnt="7"/>
      <dgm:spPr/>
    </dgm:pt>
    <dgm:pt modelId="{8900D69D-38F4-4484-9C8E-B42426A5D91E}" type="pres">
      <dgm:prSet presAssocID="{79C057EA-EF7D-44B6-9610-2347EFCAAF69}" presName="vert1" presStyleCnt="0"/>
      <dgm:spPr/>
    </dgm:pt>
    <dgm:pt modelId="{1C1E7A9F-4165-4AF7-AC10-E159B2C531AA}" type="pres">
      <dgm:prSet presAssocID="{22AF9394-47C9-4C07-AD17-B750BE105411}" presName="thickLine" presStyleLbl="alignNode1" presStyleIdx="5" presStyleCnt="7"/>
      <dgm:spPr/>
    </dgm:pt>
    <dgm:pt modelId="{D546FF61-42F7-4CEB-9BE3-7C952D0EBC7F}" type="pres">
      <dgm:prSet presAssocID="{22AF9394-47C9-4C07-AD17-B750BE105411}" presName="horz1" presStyleCnt="0"/>
      <dgm:spPr/>
    </dgm:pt>
    <dgm:pt modelId="{E77BD11F-67F6-42AC-8281-C05670A71E54}" type="pres">
      <dgm:prSet presAssocID="{22AF9394-47C9-4C07-AD17-B750BE105411}" presName="tx1" presStyleLbl="revTx" presStyleIdx="5" presStyleCnt="7"/>
      <dgm:spPr/>
    </dgm:pt>
    <dgm:pt modelId="{B800A32A-63FA-4FC1-B818-326A240E618D}" type="pres">
      <dgm:prSet presAssocID="{22AF9394-47C9-4C07-AD17-B750BE105411}" presName="vert1" presStyleCnt="0"/>
      <dgm:spPr/>
    </dgm:pt>
    <dgm:pt modelId="{E47D9D73-3ED4-47E5-AB57-E2DE0A8AEBA6}" type="pres">
      <dgm:prSet presAssocID="{127985C6-6509-4ED6-A187-5CDDC011173D}" presName="thickLine" presStyleLbl="alignNode1" presStyleIdx="6" presStyleCnt="7"/>
      <dgm:spPr/>
    </dgm:pt>
    <dgm:pt modelId="{0AF3D167-04E2-4622-A6F7-3D2E9B591CCF}" type="pres">
      <dgm:prSet presAssocID="{127985C6-6509-4ED6-A187-5CDDC011173D}" presName="horz1" presStyleCnt="0"/>
      <dgm:spPr/>
    </dgm:pt>
    <dgm:pt modelId="{5199B642-7910-4469-A126-8BF70F65126F}" type="pres">
      <dgm:prSet presAssocID="{127985C6-6509-4ED6-A187-5CDDC011173D}" presName="tx1" presStyleLbl="revTx" presStyleIdx="6" presStyleCnt="7"/>
      <dgm:spPr/>
    </dgm:pt>
    <dgm:pt modelId="{8660779E-F934-4E2D-A986-8E633337F150}" type="pres">
      <dgm:prSet presAssocID="{127985C6-6509-4ED6-A187-5CDDC011173D}" presName="vert1" presStyleCnt="0"/>
      <dgm:spPr/>
    </dgm:pt>
  </dgm:ptLst>
  <dgm:cxnLst>
    <dgm:cxn modelId="{2953C102-8B5C-4033-8A43-EBFD458A5045}" type="presOf" srcId="{4BFFA425-1935-41F2-8D3B-E3587D6092F7}" destId="{85ACC013-D3D2-4BCC-8898-7580A19DB997}" srcOrd="0" destOrd="0" presId="urn:microsoft.com/office/officeart/2008/layout/LinedList"/>
    <dgm:cxn modelId="{0502D508-CB88-48BF-A871-75B0C97F8B55}" srcId="{FBE8ABD0-96C3-452D-9D88-021F43B7F1D8}" destId="{5A4EF88C-B5F4-423E-A72A-5519E9E2D760}" srcOrd="1" destOrd="0" parTransId="{6235B3C0-418D-4CE6-B169-70F8B8AF55C9}" sibTransId="{EA1029A0-F73D-465F-86BB-7A072DA1CBBA}"/>
    <dgm:cxn modelId="{863B2525-26CC-4CCE-A10E-4CD192619A30}" type="presOf" srcId="{775E9EEC-9E10-46FE-A69D-F4485CEA9234}" destId="{4C34DBB5-7A84-4068-BF2F-381C84C4AFA9}" srcOrd="0" destOrd="0" presId="urn:microsoft.com/office/officeart/2008/layout/LinedList"/>
    <dgm:cxn modelId="{91EB6466-53CD-43A0-B380-028A328E1C2F}" srcId="{FBE8ABD0-96C3-452D-9D88-021F43B7F1D8}" destId="{22AF9394-47C9-4C07-AD17-B750BE105411}" srcOrd="5" destOrd="0" parTransId="{18252059-0403-4E9E-A4D6-87F1EEE0BAB0}" sibTransId="{13F8AA53-4959-4801-8D78-1BA52495B9CC}"/>
    <dgm:cxn modelId="{8A84814B-75E0-4D4E-BC4A-203DB218D778}" type="presOf" srcId="{5A4EF88C-B5F4-423E-A72A-5519E9E2D760}" destId="{8B9668A6-63FC-45E4-991C-C907861B310A}" srcOrd="0" destOrd="0" presId="urn:microsoft.com/office/officeart/2008/layout/LinedList"/>
    <dgm:cxn modelId="{DE029C55-6018-4A74-B45C-210E0ED26EFA}" type="presOf" srcId="{FBE8ABD0-96C3-452D-9D88-021F43B7F1D8}" destId="{68436E8F-284B-4CD9-8D1E-A051E71404A3}" srcOrd="0" destOrd="0" presId="urn:microsoft.com/office/officeart/2008/layout/LinedList"/>
    <dgm:cxn modelId="{1FC99381-0147-416B-8E0B-2525DFEC65F5}" type="presOf" srcId="{0BCD4825-F4EC-4BE4-A8B3-DC231D06D3E8}" destId="{7EEBB9BE-72D8-42AA-9C45-60A8A7B9553B}" srcOrd="0" destOrd="0" presId="urn:microsoft.com/office/officeart/2008/layout/LinedList"/>
    <dgm:cxn modelId="{4FB43385-D322-41B6-B150-AB21BE232638}" srcId="{FBE8ABD0-96C3-452D-9D88-021F43B7F1D8}" destId="{127985C6-6509-4ED6-A187-5CDDC011173D}" srcOrd="6" destOrd="0" parTransId="{50314B68-AA48-44B8-96B8-DC7A8E232214}" sibTransId="{D7F119C9-B3FC-4314-ADE5-15216DB20B33}"/>
    <dgm:cxn modelId="{A3FBF8C1-C685-455A-BD62-D4EBE432215E}" srcId="{FBE8ABD0-96C3-452D-9D88-021F43B7F1D8}" destId="{775E9EEC-9E10-46FE-A69D-F4485CEA9234}" srcOrd="0" destOrd="0" parTransId="{3D9F2AEE-8BF4-404B-9F2D-838EE9840608}" sibTransId="{6C756DED-9F5F-4F3F-A217-829E64CE6267}"/>
    <dgm:cxn modelId="{282CE9C4-CF9E-47FA-995A-33119DE9C1EE}" type="presOf" srcId="{127985C6-6509-4ED6-A187-5CDDC011173D}" destId="{5199B642-7910-4469-A126-8BF70F65126F}" srcOrd="0" destOrd="0" presId="urn:microsoft.com/office/officeart/2008/layout/LinedList"/>
    <dgm:cxn modelId="{41328CD5-9F9B-42FD-BC69-F9D63E2B5B27}" type="presOf" srcId="{79C057EA-EF7D-44B6-9610-2347EFCAAF69}" destId="{FB031752-37D6-48B1-ADCD-09495F5E3602}" srcOrd="0" destOrd="0" presId="urn:microsoft.com/office/officeart/2008/layout/LinedList"/>
    <dgm:cxn modelId="{667DFAD6-DEC6-489E-B8B2-4EC6804DD764}" type="presOf" srcId="{22AF9394-47C9-4C07-AD17-B750BE105411}" destId="{E77BD11F-67F6-42AC-8281-C05670A71E54}" srcOrd="0" destOrd="0" presId="urn:microsoft.com/office/officeart/2008/layout/LinedList"/>
    <dgm:cxn modelId="{0178F8F2-49AE-4365-B3CD-B02C9E44B20D}" srcId="{FBE8ABD0-96C3-452D-9D88-021F43B7F1D8}" destId="{4BFFA425-1935-41F2-8D3B-E3587D6092F7}" srcOrd="2" destOrd="0" parTransId="{B02067A2-8350-48F4-AE28-5FBB310F7803}" sibTransId="{B11F05B9-9D03-4A0D-923D-2F9F4493AB9F}"/>
    <dgm:cxn modelId="{FF9738F9-F52F-4EF8-952F-3C064F7718FB}" srcId="{FBE8ABD0-96C3-452D-9D88-021F43B7F1D8}" destId="{79C057EA-EF7D-44B6-9610-2347EFCAAF69}" srcOrd="4" destOrd="0" parTransId="{CB0829CC-5A15-4F70-9A33-F87E9CECBBBB}" sibTransId="{31B56626-766B-4793-8FFA-FCB930780145}"/>
    <dgm:cxn modelId="{51936CFB-E506-4741-A53F-3E73775761C2}" srcId="{FBE8ABD0-96C3-452D-9D88-021F43B7F1D8}" destId="{0BCD4825-F4EC-4BE4-A8B3-DC231D06D3E8}" srcOrd="3" destOrd="0" parTransId="{CFFA356D-195F-4084-AFDD-BD825663B0A2}" sibTransId="{1361DB3F-2733-4D7B-928F-F2C596E6BD82}"/>
    <dgm:cxn modelId="{FB92B766-2B8F-47A8-AC7A-D4260351202E}" type="presParOf" srcId="{68436E8F-284B-4CD9-8D1E-A051E71404A3}" destId="{AA9C8526-CC74-4D5F-944F-83D9C3F49B87}" srcOrd="0" destOrd="0" presId="urn:microsoft.com/office/officeart/2008/layout/LinedList"/>
    <dgm:cxn modelId="{B67985E6-A8DC-466B-9276-D7874AA0A34A}" type="presParOf" srcId="{68436E8F-284B-4CD9-8D1E-A051E71404A3}" destId="{00D87C45-C7DB-4CFB-B626-86A98E282117}" srcOrd="1" destOrd="0" presId="urn:microsoft.com/office/officeart/2008/layout/LinedList"/>
    <dgm:cxn modelId="{C7A1CF44-9E93-4050-9248-37EF8EB80935}" type="presParOf" srcId="{00D87C45-C7DB-4CFB-B626-86A98E282117}" destId="{4C34DBB5-7A84-4068-BF2F-381C84C4AFA9}" srcOrd="0" destOrd="0" presId="urn:microsoft.com/office/officeart/2008/layout/LinedList"/>
    <dgm:cxn modelId="{ADB41998-6527-4680-BC8B-2027DF660FEF}" type="presParOf" srcId="{00D87C45-C7DB-4CFB-B626-86A98E282117}" destId="{E89A7D04-DCDD-4367-9795-20F0F7D2E460}" srcOrd="1" destOrd="0" presId="urn:microsoft.com/office/officeart/2008/layout/LinedList"/>
    <dgm:cxn modelId="{B024130C-EEE7-4EA0-99F6-F655AE489AC9}" type="presParOf" srcId="{68436E8F-284B-4CD9-8D1E-A051E71404A3}" destId="{CCCB98B9-7FF2-409E-B4B4-24DD3AB431F0}" srcOrd="2" destOrd="0" presId="urn:microsoft.com/office/officeart/2008/layout/LinedList"/>
    <dgm:cxn modelId="{B6B461BD-068B-4BFE-B12E-5A6075BA132F}" type="presParOf" srcId="{68436E8F-284B-4CD9-8D1E-A051E71404A3}" destId="{8DA6FCF8-7F31-455F-8D45-634F47E20845}" srcOrd="3" destOrd="0" presId="urn:microsoft.com/office/officeart/2008/layout/LinedList"/>
    <dgm:cxn modelId="{7E978D67-5FD2-430B-9782-23EF2CEA1F58}" type="presParOf" srcId="{8DA6FCF8-7F31-455F-8D45-634F47E20845}" destId="{8B9668A6-63FC-45E4-991C-C907861B310A}" srcOrd="0" destOrd="0" presId="urn:microsoft.com/office/officeart/2008/layout/LinedList"/>
    <dgm:cxn modelId="{F8760F53-A6A0-4FE3-B03A-B41BF01DA991}" type="presParOf" srcId="{8DA6FCF8-7F31-455F-8D45-634F47E20845}" destId="{04706728-27DA-4E58-B5F3-3C82DA29CCF4}" srcOrd="1" destOrd="0" presId="urn:microsoft.com/office/officeart/2008/layout/LinedList"/>
    <dgm:cxn modelId="{C6FF8730-ADF1-43CC-81B8-A84E4C1EBC3C}" type="presParOf" srcId="{68436E8F-284B-4CD9-8D1E-A051E71404A3}" destId="{E0869317-B950-46B3-ADB8-6C067C7704BD}" srcOrd="4" destOrd="0" presId="urn:microsoft.com/office/officeart/2008/layout/LinedList"/>
    <dgm:cxn modelId="{96E9C4E8-6B71-4777-896A-CAC9747DE076}" type="presParOf" srcId="{68436E8F-284B-4CD9-8D1E-A051E71404A3}" destId="{47F18AC8-2407-45AB-A581-CFE579E8BEC6}" srcOrd="5" destOrd="0" presId="urn:microsoft.com/office/officeart/2008/layout/LinedList"/>
    <dgm:cxn modelId="{9ED7C5C7-3F42-4C2E-BFE1-A389AE765B7E}" type="presParOf" srcId="{47F18AC8-2407-45AB-A581-CFE579E8BEC6}" destId="{85ACC013-D3D2-4BCC-8898-7580A19DB997}" srcOrd="0" destOrd="0" presId="urn:microsoft.com/office/officeart/2008/layout/LinedList"/>
    <dgm:cxn modelId="{77DA93BF-ADC6-4CFA-BBB8-F5F44ACE58A2}" type="presParOf" srcId="{47F18AC8-2407-45AB-A581-CFE579E8BEC6}" destId="{32CD1B7C-8A7D-402E-866D-649A88987D74}" srcOrd="1" destOrd="0" presId="urn:microsoft.com/office/officeart/2008/layout/LinedList"/>
    <dgm:cxn modelId="{10F4475D-879A-414A-903D-C0BBD2A66441}" type="presParOf" srcId="{68436E8F-284B-4CD9-8D1E-A051E71404A3}" destId="{C0FE2E9F-5F7F-43D7-A7C6-301C30CE76BC}" srcOrd="6" destOrd="0" presId="urn:microsoft.com/office/officeart/2008/layout/LinedList"/>
    <dgm:cxn modelId="{0222AF9F-E508-4C09-81A6-41099A78216D}" type="presParOf" srcId="{68436E8F-284B-4CD9-8D1E-A051E71404A3}" destId="{DDE4613D-7612-4F44-95BB-C6D2869F7F4A}" srcOrd="7" destOrd="0" presId="urn:microsoft.com/office/officeart/2008/layout/LinedList"/>
    <dgm:cxn modelId="{BDFC4139-2A2E-4C83-9520-D36B46F5F7B8}" type="presParOf" srcId="{DDE4613D-7612-4F44-95BB-C6D2869F7F4A}" destId="{7EEBB9BE-72D8-42AA-9C45-60A8A7B9553B}" srcOrd="0" destOrd="0" presId="urn:microsoft.com/office/officeart/2008/layout/LinedList"/>
    <dgm:cxn modelId="{8E096B90-CAA0-4CFD-96AC-868D6F89D7CE}" type="presParOf" srcId="{DDE4613D-7612-4F44-95BB-C6D2869F7F4A}" destId="{68FDF499-126E-4153-83C0-E598084B8A9E}" srcOrd="1" destOrd="0" presId="urn:microsoft.com/office/officeart/2008/layout/LinedList"/>
    <dgm:cxn modelId="{39B163A6-5A85-487F-BB97-91FEC28AE511}" type="presParOf" srcId="{68436E8F-284B-4CD9-8D1E-A051E71404A3}" destId="{4D915A75-A496-46C0-AE26-65815373D9F0}" srcOrd="8" destOrd="0" presId="urn:microsoft.com/office/officeart/2008/layout/LinedList"/>
    <dgm:cxn modelId="{BAA55418-5803-49E0-B0FB-B33EFC79BCBB}" type="presParOf" srcId="{68436E8F-284B-4CD9-8D1E-A051E71404A3}" destId="{9DA5DB9F-66E6-49A8-A0AA-813CA9175242}" srcOrd="9" destOrd="0" presId="urn:microsoft.com/office/officeart/2008/layout/LinedList"/>
    <dgm:cxn modelId="{F1E2041D-9E96-4055-A38A-241D856CC68F}" type="presParOf" srcId="{9DA5DB9F-66E6-49A8-A0AA-813CA9175242}" destId="{FB031752-37D6-48B1-ADCD-09495F5E3602}" srcOrd="0" destOrd="0" presId="urn:microsoft.com/office/officeart/2008/layout/LinedList"/>
    <dgm:cxn modelId="{EEABAD9F-93FF-452E-ABE5-5F0CBB660610}" type="presParOf" srcId="{9DA5DB9F-66E6-49A8-A0AA-813CA9175242}" destId="{8900D69D-38F4-4484-9C8E-B42426A5D91E}" srcOrd="1" destOrd="0" presId="urn:microsoft.com/office/officeart/2008/layout/LinedList"/>
    <dgm:cxn modelId="{7A08AC2C-636E-46AE-B27E-E7D61592AADD}" type="presParOf" srcId="{68436E8F-284B-4CD9-8D1E-A051E71404A3}" destId="{1C1E7A9F-4165-4AF7-AC10-E159B2C531AA}" srcOrd="10" destOrd="0" presId="urn:microsoft.com/office/officeart/2008/layout/LinedList"/>
    <dgm:cxn modelId="{06B91FE3-2A1B-4595-A143-EEA6E2CCFE33}" type="presParOf" srcId="{68436E8F-284B-4CD9-8D1E-A051E71404A3}" destId="{D546FF61-42F7-4CEB-9BE3-7C952D0EBC7F}" srcOrd="11" destOrd="0" presId="urn:microsoft.com/office/officeart/2008/layout/LinedList"/>
    <dgm:cxn modelId="{33CE1939-D603-497B-AC24-0C316FCB95EC}" type="presParOf" srcId="{D546FF61-42F7-4CEB-9BE3-7C952D0EBC7F}" destId="{E77BD11F-67F6-42AC-8281-C05670A71E54}" srcOrd="0" destOrd="0" presId="urn:microsoft.com/office/officeart/2008/layout/LinedList"/>
    <dgm:cxn modelId="{AD97A287-2F0C-462A-AF80-DE09AB21419C}" type="presParOf" srcId="{D546FF61-42F7-4CEB-9BE3-7C952D0EBC7F}" destId="{B800A32A-63FA-4FC1-B818-326A240E618D}" srcOrd="1" destOrd="0" presId="urn:microsoft.com/office/officeart/2008/layout/LinedList"/>
    <dgm:cxn modelId="{BEF4D044-A33E-45F0-9CF9-22CEAB2AA80E}" type="presParOf" srcId="{68436E8F-284B-4CD9-8D1E-A051E71404A3}" destId="{E47D9D73-3ED4-47E5-AB57-E2DE0A8AEBA6}" srcOrd="12" destOrd="0" presId="urn:microsoft.com/office/officeart/2008/layout/LinedList"/>
    <dgm:cxn modelId="{45CDE9EF-3F2A-41DD-B9E5-29EF47EBE969}" type="presParOf" srcId="{68436E8F-284B-4CD9-8D1E-A051E71404A3}" destId="{0AF3D167-04E2-4622-A6F7-3D2E9B591CCF}" srcOrd="13" destOrd="0" presId="urn:microsoft.com/office/officeart/2008/layout/LinedList"/>
    <dgm:cxn modelId="{FAEBED92-71D3-43BD-9D7D-ADC11D457E58}" type="presParOf" srcId="{0AF3D167-04E2-4622-A6F7-3D2E9B591CCF}" destId="{5199B642-7910-4469-A126-8BF70F65126F}" srcOrd="0" destOrd="0" presId="urn:microsoft.com/office/officeart/2008/layout/LinedList"/>
    <dgm:cxn modelId="{36C41959-5832-45EC-BA51-68BB0D231629}" type="presParOf" srcId="{0AF3D167-04E2-4622-A6F7-3D2E9B591CCF}" destId="{8660779E-F934-4E2D-A986-8E633337F1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C8526-CC74-4D5F-944F-83D9C3F49B87}">
      <dsp:nvSpPr>
        <dsp:cNvPr id="0" name=""/>
        <dsp:cNvSpPr/>
      </dsp:nvSpPr>
      <dsp:spPr>
        <a:xfrm>
          <a:off x="0" y="642"/>
          <a:ext cx="59901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4DBB5-7A84-4068-BF2F-381C84C4AFA9}">
      <dsp:nvSpPr>
        <dsp:cNvPr id="0" name=""/>
        <dsp:cNvSpPr/>
      </dsp:nvSpPr>
      <dsp:spPr>
        <a:xfrm>
          <a:off x="0" y="642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The main objectives of this project are:</a:t>
          </a:r>
          <a:endParaRPr lang="en-US" sz="2000" kern="1200"/>
        </a:p>
      </dsp:txBody>
      <dsp:txXfrm>
        <a:off x="0" y="642"/>
        <a:ext cx="5990135" cy="751538"/>
      </dsp:txXfrm>
    </dsp:sp>
    <dsp:sp modelId="{CCCB98B9-7FF2-409E-B4B4-24DD3AB431F0}">
      <dsp:nvSpPr>
        <dsp:cNvPr id="0" name=""/>
        <dsp:cNvSpPr/>
      </dsp:nvSpPr>
      <dsp:spPr>
        <a:xfrm>
          <a:off x="0" y="752180"/>
          <a:ext cx="5990135" cy="0"/>
        </a:xfrm>
        <a:prstGeom prst="line">
          <a:avLst/>
        </a:prstGeom>
        <a:solidFill>
          <a:schemeClr val="accent2">
            <a:hueOff val="-1237445"/>
            <a:satOff val="404"/>
            <a:lumOff val="-360"/>
            <a:alphaOff val="0"/>
          </a:schemeClr>
        </a:solidFill>
        <a:ln w="13970" cap="flat" cmpd="sng" algn="ctr">
          <a:solidFill>
            <a:schemeClr val="accent2">
              <a:hueOff val="-1237445"/>
              <a:satOff val="404"/>
              <a:lumOff val="-3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668A6-63FC-45E4-991C-C907861B310A}">
      <dsp:nvSpPr>
        <dsp:cNvPr id="0" name=""/>
        <dsp:cNvSpPr/>
      </dsp:nvSpPr>
      <dsp:spPr>
        <a:xfrm>
          <a:off x="0" y="752180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Perform data cleaning and preprocessing on raw sales data</a:t>
          </a:r>
          <a:endParaRPr lang="en-US" sz="2000" kern="1200"/>
        </a:p>
      </dsp:txBody>
      <dsp:txXfrm>
        <a:off x="0" y="752180"/>
        <a:ext cx="5990135" cy="751538"/>
      </dsp:txXfrm>
    </dsp:sp>
    <dsp:sp modelId="{E0869317-B950-46B3-ADB8-6C067C7704BD}">
      <dsp:nvSpPr>
        <dsp:cNvPr id="0" name=""/>
        <dsp:cNvSpPr/>
      </dsp:nvSpPr>
      <dsp:spPr>
        <a:xfrm>
          <a:off x="0" y="1503719"/>
          <a:ext cx="5990135" cy="0"/>
        </a:xfrm>
        <a:prstGeom prst="line">
          <a:avLst/>
        </a:prstGeom>
        <a:solidFill>
          <a:schemeClr val="accent2">
            <a:hueOff val="-2474889"/>
            <a:satOff val="807"/>
            <a:lumOff val="-719"/>
            <a:alphaOff val="0"/>
          </a:schemeClr>
        </a:solidFill>
        <a:ln w="13970" cap="flat" cmpd="sng" algn="ctr">
          <a:solidFill>
            <a:schemeClr val="accent2">
              <a:hueOff val="-2474889"/>
              <a:satOff val="807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CC013-D3D2-4BCC-8898-7580A19DB997}">
      <dsp:nvSpPr>
        <dsp:cNvPr id="0" name=""/>
        <dsp:cNvSpPr/>
      </dsp:nvSpPr>
      <dsp:spPr>
        <a:xfrm>
          <a:off x="0" y="1503719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Conduct Exploratory Data Analysis (EDA) to discover hidden patterns</a:t>
          </a:r>
          <a:endParaRPr lang="en-US" sz="2000" kern="1200"/>
        </a:p>
      </dsp:txBody>
      <dsp:txXfrm>
        <a:off x="0" y="1503719"/>
        <a:ext cx="5990135" cy="751538"/>
      </dsp:txXfrm>
    </dsp:sp>
    <dsp:sp modelId="{C0FE2E9F-5F7F-43D7-A7C6-301C30CE76BC}">
      <dsp:nvSpPr>
        <dsp:cNvPr id="0" name=""/>
        <dsp:cNvSpPr/>
      </dsp:nvSpPr>
      <dsp:spPr>
        <a:xfrm>
          <a:off x="0" y="2255257"/>
          <a:ext cx="5990135" cy="0"/>
        </a:xfrm>
        <a:prstGeom prst="line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BB9BE-72D8-42AA-9C45-60A8A7B9553B}">
      <dsp:nvSpPr>
        <dsp:cNvPr id="0" name=""/>
        <dsp:cNvSpPr/>
      </dsp:nvSpPr>
      <dsp:spPr>
        <a:xfrm>
          <a:off x="0" y="2255257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Analyze sales performance across different categories and regions</a:t>
          </a:r>
          <a:endParaRPr lang="en-US" sz="2000" kern="1200"/>
        </a:p>
      </dsp:txBody>
      <dsp:txXfrm>
        <a:off x="0" y="2255257"/>
        <a:ext cx="5990135" cy="751538"/>
      </dsp:txXfrm>
    </dsp:sp>
    <dsp:sp modelId="{4D915A75-A496-46C0-AE26-65815373D9F0}">
      <dsp:nvSpPr>
        <dsp:cNvPr id="0" name=""/>
        <dsp:cNvSpPr/>
      </dsp:nvSpPr>
      <dsp:spPr>
        <a:xfrm>
          <a:off x="0" y="3006796"/>
          <a:ext cx="5990135" cy="0"/>
        </a:xfrm>
        <a:prstGeom prst="line">
          <a:avLst/>
        </a:prstGeom>
        <a:solidFill>
          <a:schemeClr val="accent2">
            <a:hueOff val="-4949778"/>
            <a:satOff val="1615"/>
            <a:lumOff val="-1438"/>
            <a:alphaOff val="0"/>
          </a:schemeClr>
        </a:solidFill>
        <a:ln w="13970" cap="flat" cmpd="sng" algn="ctr">
          <a:solidFill>
            <a:schemeClr val="accent2">
              <a:hueOff val="-4949778"/>
              <a:satOff val="161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31752-37D6-48B1-ADCD-09495F5E3602}">
      <dsp:nvSpPr>
        <dsp:cNvPr id="0" name=""/>
        <dsp:cNvSpPr/>
      </dsp:nvSpPr>
      <dsp:spPr>
        <a:xfrm>
          <a:off x="0" y="3006796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Understand customer purchasing behavior</a:t>
          </a:r>
          <a:endParaRPr lang="en-US" sz="2000" kern="1200"/>
        </a:p>
      </dsp:txBody>
      <dsp:txXfrm>
        <a:off x="0" y="3006796"/>
        <a:ext cx="5990135" cy="751538"/>
      </dsp:txXfrm>
    </dsp:sp>
    <dsp:sp modelId="{1C1E7A9F-4165-4AF7-AC10-E159B2C531AA}">
      <dsp:nvSpPr>
        <dsp:cNvPr id="0" name=""/>
        <dsp:cNvSpPr/>
      </dsp:nvSpPr>
      <dsp:spPr>
        <a:xfrm>
          <a:off x="0" y="3758334"/>
          <a:ext cx="5990135" cy="0"/>
        </a:xfrm>
        <a:prstGeom prst="line">
          <a:avLst/>
        </a:prstGeom>
        <a:solidFill>
          <a:schemeClr val="accent2">
            <a:hueOff val="-6187223"/>
            <a:satOff val="2018"/>
            <a:lumOff val="-1798"/>
            <a:alphaOff val="0"/>
          </a:schemeClr>
        </a:solidFill>
        <a:ln w="13970" cap="flat" cmpd="sng" algn="ctr">
          <a:solidFill>
            <a:schemeClr val="accent2">
              <a:hueOff val="-6187223"/>
              <a:satOff val="2018"/>
              <a:lumOff val="-17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BD11F-67F6-42AC-8281-C05670A71E54}">
      <dsp:nvSpPr>
        <dsp:cNvPr id="0" name=""/>
        <dsp:cNvSpPr/>
      </dsp:nvSpPr>
      <dsp:spPr>
        <a:xfrm>
          <a:off x="0" y="3758334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Develop an interactive Power BI dashboard</a:t>
          </a:r>
          <a:endParaRPr lang="en-US" sz="2000" kern="1200"/>
        </a:p>
      </dsp:txBody>
      <dsp:txXfrm>
        <a:off x="0" y="3758334"/>
        <a:ext cx="5990135" cy="751538"/>
      </dsp:txXfrm>
    </dsp:sp>
    <dsp:sp modelId="{E47D9D73-3ED4-47E5-AB57-E2DE0A8AEBA6}">
      <dsp:nvSpPr>
        <dsp:cNvPr id="0" name=""/>
        <dsp:cNvSpPr/>
      </dsp:nvSpPr>
      <dsp:spPr>
        <a:xfrm>
          <a:off x="0" y="4509873"/>
          <a:ext cx="5990135" cy="0"/>
        </a:xfrm>
        <a:prstGeom prst="line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9B642-7910-4469-A126-8BF70F65126F}">
      <dsp:nvSpPr>
        <dsp:cNvPr id="0" name=""/>
        <dsp:cNvSpPr/>
      </dsp:nvSpPr>
      <dsp:spPr>
        <a:xfrm>
          <a:off x="0" y="4509873"/>
          <a:ext cx="5990135" cy="751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✔ Generate business recommendations from analytical insights</a:t>
          </a:r>
          <a:endParaRPr lang="en-US" sz="2000" kern="1200"/>
        </a:p>
      </dsp:txBody>
      <dsp:txXfrm>
        <a:off x="0" y="4509873"/>
        <a:ext cx="5990135" cy="751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77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8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643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9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1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69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42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0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9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36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40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5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BA-385E-B100-D3B2-83F877ED7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57" y="0"/>
            <a:ext cx="7481259" cy="3140968"/>
          </a:xfrm>
        </p:spPr>
        <p:txBody>
          <a:bodyPr>
            <a:normAutofit/>
          </a:bodyPr>
          <a:lstStyle/>
          <a:p>
            <a:pPr algn="ctr"/>
            <a:br>
              <a:rPr lang="en-IN" sz="1200" b="1" dirty="0"/>
            </a:br>
            <a:r>
              <a:rPr lang="en-IN" sz="1800" b="1" dirty="0"/>
              <a:t>Amazon Sales Analysis and Interactive Dashboard Development Using Python &amp; Power BI</a:t>
            </a:r>
            <a:br>
              <a:rPr lang="en-IN" sz="1800" b="1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797C-B534-8121-1EFA-68AC9E565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412776"/>
            <a:ext cx="4184904" cy="4343131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B5ADC-439E-8BF3-9088-90C43F8880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5" r="25375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5A5F03-11AE-4917-7039-9685B298A84E}"/>
              </a:ext>
            </a:extLst>
          </p:cNvPr>
          <p:cNvSpPr txBox="1"/>
          <p:nvPr/>
        </p:nvSpPr>
        <p:spPr>
          <a:xfrm>
            <a:off x="551384" y="2231130"/>
            <a:ext cx="55446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Project Presentation</a:t>
            </a:r>
            <a:br>
              <a:rPr lang="en-IN" sz="2000" b="1" dirty="0"/>
            </a:br>
            <a:r>
              <a:rPr lang="en-IN" sz="2000" b="1" dirty="0"/>
              <a:t>Presented by:</a:t>
            </a:r>
            <a:br>
              <a:rPr lang="en-IN" sz="2000" dirty="0"/>
            </a:br>
            <a:r>
              <a:rPr lang="en-IN" sz="2000" dirty="0"/>
              <a:t>M </a:t>
            </a:r>
            <a:r>
              <a:rPr lang="en-IN" sz="2000" dirty="0" err="1"/>
              <a:t>rohit</a:t>
            </a:r>
            <a:r>
              <a:rPr lang="en-IN" sz="2000" dirty="0"/>
              <a:t> </a:t>
            </a:r>
            <a:r>
              <a:rPr lang="en-IN" sz="2000" dirty="0" err="1"/>
              <a:t>sai</a:t>
            </a:r>
            <a:r>
              <a:rPr lang="en-IN" sz="2000" dirty="0"/>
              <a:t> </a:t>
            </a:r>
            <a:r>
              <a:rPr lang="en-IN" sz="2000" dirty="0" err="1"/>
              <a:t>chowdhary</a:t>
            </a:r>
            <a:br>
              <a:rPr lang="en-IN" sz="2000" dirty="0"/>
            </a:br>
            <a:r>
              <a:rPr lang="en-IN" sz="2000" b="1" dirty="0"/>
              <a:t>Tools Used:</a:t>
            </a:r>
            <a:br>
              <a:rPr lang="en-IN" sz="2000" b="1" dirty="0"/>
            </a:br>
            <a:r>
              <a:rPr lang="en-IN" sz="2000" dirty="0"/>
              <a:t>Python </a:t>
            </a:r>
            <a:br>
              <a:rPr lang="en-IN" sz="2000" dirty="0"/>
            </a:br>
            <a:r>
              <a:rPr lang="en-IN" sz="2000" dirty="0"/>
              <a:t>Pandas </a:t>
            </a:r>
            <a:br>
              <a:rPr lang="en-IN" sz="2000" dirty="0"/>
            </a:br>
            <a:r>
              <a:rPr lang="en-IN" sz="2000" dirty="0"/>
              <a:t>NumPy </a:t>
            </a:r>
            <a:br>
              <a:rPr lang="en-IN" sz="2000" dirty="0"/>
            </a:br>
            <a:r>
              <a:rPr lang="en-IN" sz="2000" dirty="0"/>
              <a:t>Matplotlib </a:t>
            </a:r>
            <a:br>
              <a:rPr lang="en-IN" sz="2000" dirty="0"/>
            </a:br>
            <a:r>
              <a:rPr lang="en-IN" sz="2000" dirty="0"/>
              <a:t>Seaborn </a:t>
            </a:r>
            <a:br>
              <a:rPr lang="en-IN" sz="2000" dirty="0"/>
            </a:br>
            <a:r>
              <a:rPr lang="en-IN" sz="2000" dirty="0"/>
              <a:t>Power BI </a:t>
            </a:r>
            <a:br>
              <a:rPr lang="en-IN" sz="2000" dirty="0"/>
            </a:br>
            <a:r>
              <a:rPr lang="en-IN" sz="2000" b="1" dirty="0"/>
              <a:t>Domain:</a:t>
            </a:r>
            <a:r>
              <a:rPr lang="en-IN" sz="2000" dirty="0"/>
              <a:t> Data Analytics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90F2-6C1E-9871-3C0D-B8BD0D0A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7ECA-AABE-D5FA-4937-76598E602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rmAutofit/>
          </a:bodyPr>
          <a:lstStyle/>
          <a:p>
            <a:r>
              <a:rPr lang="en-IN"/>
              <a:t>In today's competitive market, businesses generate huge volumes of sales data. </a:t>
            </a:r>
          </a:p>
          <a:p>
            <a:r>
              <a:rPr lang="en-IN"/>
              <a:t>Extracting meaningful insights from raw data helps organizations improve decision-making. </a:t>
            </a:r>
          </a:p>
          <a:p>
            <a:r>
              <a:rPr lang="en-IN"/>
              <a:t>This project focuses on </a:t>
            </a:r>
            <a:r>
              <a:rPr lang="en-IN" err="1"/>
              <a:t>analyzing</a:t>
            </a:r>
            <a:r>
              <a:rPr lang="en-IN"/>
              <a:t> Amazon sales data to identify sales trends, customer </a:t>
            </a:r>
            <a:r>
              <a:rPr lang="en-IN" err="1"/>
              <a:t>behavior</a:t>
            </a:r>
            <a:r>
              <a:rPr lang="en-IN"/>
              <a:t>, product performance, and regional patterns. </a:t>
            </a:r>
          </a:p>
          <a:p>
            <a:r>
              <a:rPr lang="en-IN"/>
              <a:t>Python-based Exploratory Data Analysis (EDA) and Power BI visualization techniques were used to transform raw data into actionable insights. 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9EC7861-849A-17DD-DC9A-01E720663F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60" r="23273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6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F03E-5E78-4086-D2B6-FDA00F98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539087"/>
            <a:ext cx="4534047" cy="1584895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71D65EE8-8404-0671-FFDE-71D9269E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6" r="39072" b="-1"/>
          <a:stretch>
            <a:fillRect/>
          </a:stretch>
        </p:blipFill>
        <p:spPr>
          <a:xfrm>
            <a:off x="20" y="10"/>
            <a:ext cx="609479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2E65-4E1E-50E5-5B38-2BFEDDC6E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38399"/>
            <a:ext cx="4572002" cy="3880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/>
              <a:t>       Raw sales datasets often contain large amounts of unstructured information. </a:t>
            </a:r>
          </a:p>
          <a:p>
            <a:pPr marL="0" indent="0">
              <a:buNone/>
            </a:pPr>
            <a:r>
              <a:rPr lang="en-IN" sz="1500"/>
              <a:t>       Businesses face challenges in identifying: </a:t>
            </a:r>
          </a:p>
          <a:p>
            <a:pPr lvl="1"/>
            <a:r>
              <a:rPr lang="en-IN" sz="1500"/>
              <a:t>Best-performing products </a:t>
            </a:r>
          </a:p>
          <a:p>
            <a:pPr lvl="1"/>
            <a:r>
              <a:rPr lang="en-IN" sz="1500"/>
              <a:t>Customer purchasing patterns </a:t>
            </a:r>
          </a:p>
          <a:p>
            <a:pPr lvl="1"/>
            <a:r>
              <a:rPr lang="en-IN" sz="1500"/>
              <a:t>Sales trends </a:t>
            </a:r>
          </a:p>
          <a:p>
            <a:pPr lvl="1"/>
            <a:r>
              <a:rPr lang="en-IN" sz="1500"/>
              <a:t>Regional performance </a:t>
            </a:r>
          </a:p>
          <a:p>
            <a:pPr lvl="1"/>
            <a:r>
              <a:rPr lang="en-IN" sz="1500"/>
              <a:t>Revenue opportunities </a:t>
            </a:r>
          </a:p>
          <a:p>
            <a:r>
              <a:rPr lang="en-IN" sz="1500" b="1"/>
              <a:t>Objective:</a:t>
            </a:r>
          </a:p>
          <a:p>
            <a:r>
              <a:rPr lang="en-IN" sz="1500"/>
              <a:t>To clean, </a:t>
            </a:r>
            <a:r>
              <a:rPr lang="en-IN" sz="1500" err="1"/>
              <a:t>analyze</a:t>
            </a:r>
            <a:r>
              <a:rPr lang="en-IN" sz="1500"/>
              <a:t>, visualize, and interpret Amazon sales data to support data-driven business decisions.</a:t>
            </a:r>
          </a:p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74555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A957D-D27B-AC47-484A-575900F5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en-IN" sz="3600" b="1">
                <a:solidFill>
                  <a:srgbClr val="FFFFFF"/>
                </a:solidFill>
              </a:rPr>
              <a:t>Objectives</a:t>
            </a:r>
            <a:br>
              <a:rPr lang="en-IN" sz="3600" b="1">
                <a:solidFill>
                  <a:srgbClr val="FFFFFF"/>
                </a:solidFill>
              </a:rPr>
            </a:br>
            <a:endParaRPr lang="en-IN" sz="36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CBE67A-6AAF-0164-AC34-2D9AB9CF5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089694"/>
              </p:ext>
            </p:extLst>
          </p:nvPr>
        </p:nvGraphicFramePr>
        <p:xfrm>
          <a:off x="4658815" y="804672"/>
          <a:ext cx="5990136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102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ABCA-89C5-F3D7-2993-5D973BFB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IN" sz="3100" b="1"/>
              <a:t>Tools and Technologies Used</a:t>
            </a:r>
            <a:br>
              <a:rPr lang="en-IN" sz="3100" b="1"/>
            </a:br>
            <a:endParaRPr lang="en-IN" sz="31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02E7F-1979-4934-0E69-3D7E69A4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Autofit/>
          </a:bodyPr>
          <a:lstStyle/>
          <a:p>
            <a:r>
              <a:rPr lang="en-IN" sz="1200" b="1" dirty="0"/>
              <a:t>Technology Stack</a:t>
            </a:r>
          </a:p>
          <a:p>
            <a:r>
              <a:rPr lang="en-IN" sz="1200" b="1" dirty="0"/>
              <a:t>Programming &amp; Data Analysis:</a:t>
            </a:r>
          </a:p>
          <a:p>
            <a:r>
              <a:rPr lang="en-IN" sz="1200" dirty="0"/>
              <a:t>Python </a:t>
            </a:r>
          </a:p>
          <a:p>
            <a:r>
              <a:rPr lang="en-IN" sz="1200" b="1" dirty="0"/>
              <a:t>Python Libraries:</a:t>
            </a:r>
          </a:p>
          <a:p>
            <a:r>
              <a:rPr lang="en-IN" sz="1200" dirty="0"/>
              <a:t>Pandas → Data manipulation and cleaning </a:t>
            </a:r>
          </a:p>
          <a:p>
            <a:r>
              <a:rPr lang="en-IN" sz="1200" dirty="0"/>
              <a:t>NumPy → Numerical operations </a:t>
            </a:r>
          </a:p>
          <a:p>
            <a:r>
              <a:rPr lang="en-IN" sz="1200" dirty="0"/>
              <a:t>Matplotlib → Data visualization </a:t>
            </a:r>
          </a:p>
          <a:p>
            <a:r>
              <a:rPr lang="en-IN" sz="1200" dirty="0"/>
              <a:t>Seaborn → Statistical visualization </a:t>
            </a:r>
          </a:p>
          <a:p>
            <a:r>
              <a:rPr lang="en-IN" sz="1200" b="1" dirty="0"/>
              <a:t>Dashboard Development:</a:t>
            </a:r>
          </a:p>
          <a:p>
            <a:r>
              <a:rPr lang="en-IN" sz="1200" dirty="0"/>
              <a:t>Power BI </a:t>
            </a:r>
          </a:p>
          <a:p>
            <a:r>
              <a:rPr lang="en-IN" sz="1200" b="1" dirty="0"/>
              <a:t>Data Processing:</a:t>
            </a:r>
          </a:p>
          <a:p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AB5AB-D486-DCC2-C718-0F8D64799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48" r="48385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0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E80D91-18AA-438F-BFF4-E6BABFDFB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C5AB-8A34-4DF3-AB54-AD74AA432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4698" y="0"/>
            <a:ext cx="5188141" cy="68654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1129B-72D5-A262-AD73-353A3827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937" y="643466"/>
            <a:ext cx="3962658" cy="5376334"/>
          </a:xfrm>
        </p:spPr>
        <p:txBody>
          <a:bodyPr anchor="ctr">
            <a:normAutofit/>
          </a:bodyPr>
          <a:lstStyle/>
          <a:p>
            <a:r>
              <a:rPr lang="en-IN" sz="3600" b="1">
                <a:solidFill>
                  <a:srgbClr val="FFFFFF"/>
                </a:solidFill>
              </a:rPr>
              <a:t>Project Workflow</a:t>
            </a:r>
            <a:br>
              <a:rPr lang="en-IN" sz="3600" b="1">
                <a:solidFill>
                  <a:srgbClr val="FFFFFF"/>
                </a:solidFill>
              </a:rPr>
            </a:br>
            <a:endParaRPr lang="en-IN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AE395-E0F3-9CF1-E911-07B756D4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643467"/>
            <a:ext cx="4817766" cy="55785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300" b="1"/>
              <a:t>Data Analytics Workflow</a:t>
            </a:r>
          </a:p>
          <a:p>
            <a:r>
              <a:rPr lang="en-IN" sz="1300"/>
              <a:t>Raw Sales Dataset</a:t>
            </a:r>
          </a:p>
          <a:p>
            <a:pPr marL="0" indent="0">
              <a:buNone/>
            </a:pPr>
            <a:r>
              <a:rPr lang="en-IN" sz="1300"/>
              <a:t>               ↓</a:t>
            </a:r>
          </a:p>
          <a:p>
            <a:pPr marL="0" indent="0">
              <a:buNone/>
            </a:pPr>
            <a:r>
              <a:rPr lang="en-IN" sz="1300"/>
              <a:t>       Data Cleaning</a:t>
            </a:r>
          </a:p>
          <a:p>
            <a:pPr marL="0" indent="0">
              <a:buNone/>
            </a:pPr>
            <a:r>
              <a:rPr lang="en-IN" sz="1300"/>
              <a:t>               ↓</a:t>
            </a:r>
          </a:p>
          <a:p>
            <a:r>
              <a:rPr lang="en-IN" sz="1300"/>
              <a:t>Data Transformation</a:t>
            </a:r>
          </a:p>
          <a:p>
            <a:pPr marL="0" indent="0">
              <a:buNone/>
            </a:pPr>
            <a:r>
              <a:rPr lang="en-IN" sz="1300"/>
              <a:t>               ↓</a:t>
            </a:r>
          </a:p>
          <a:p>
            <a:r>
              <a:rPr lang="en-IN" sz="1300"/>
              <a:t>Exploratory Data Analysis</a:t>
            </a:r>
          </a:p>
          <a:p>
            <a:pPr marL="0" indent="0">
              <a:buNone/>
            </a:pPr>
            <a:r>
              <a:rPr lang="en-IN" sz="1300"/>
              <a:t>              ↓</a:t>
            </a:r>
          </a:p>
          <a:p>
            <a:r>
              <a:rPr lang="en-IN" sz="1300"/>
              <a:t>Insight Generation</a:t>
            </a:r>
          </a:p>
          <a:p>
            <a:pPr marL="0" indent="0">
              <a:buNone/>
            </a:pPr>
            <a:r>
              <a:rPr lang="en-IN" sz="1300"/>
              <a:t>             ↓</a:t>
            </a:r>
          </a:p>
          <a:p>
            <a:r>
              <a:rPr lang="en-IN" sz="1300"/>
              <a:t>Power BI Dashboard Creation</a:t>
            </a:r>
          </a:p>
          <a:p>
            <a:pPr marL="0" indent="0">
              <a:buNone/>
            </a:pPr>
            <a:r>
              <a:rPr lang="en-IN" sz="1300"/>
              <a:t>           ↓</a:t>
            </a:r>
          </a:p>
          <a:p>
            <a:r>
              <a:rPr lang="en-IN" sz="1300"/>
              <a:t>Business Recommendations</a:t>
            </a:r>
          </a:p>
          <a:p>
            <a:endParaRPr lang="en-IN" sz="13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B856C-9196-4702-BED7-5733C7EAA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235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6CA6-C268-9389-A5CC-B58E21AC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IN" sz="2800" b="1"/>
              <a:t>Exploratory Data Analysis (EDA)</a:t>
            </a:r>
            <a:br>
              <a:rPr lang="en-IN" sz="2800" b="1"/>
            </a:br>
            <a:endParaRPr lang="en-IN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53E0-E908-0D96-373E-1712EB9EB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8"/>
            <a:ext cx="6015571" cy="4852261"/>
          </a:xfrm>
        </p:spPr>
        <p:txBody>
          <a:bodyPr>
            <a:noAutofit/>
          </a:bodyPr>
          <a:lstStyle/>
          <a:p>
            <a:r>
              <a:rPr lang="en-IN" sz="1400" b="1" dirty="0"/>
              <a:t>Key Analysis Performed</a:t>
            </a:r>
          </a:p>
          <a:p>
            <a:r>
              <a:rPr lang="en-IN" sz="1400" b="1" dirty="0"/>
              <a:t>Sales Analysis:</a:t>
            </a:r>
          </a:p>
          <a:p>
            <a:r>
              <a:rPr lang="en-IN" sz="1400" dirty="0"/>
              <a:t>Studied overall sales distribution </a:t>
            </a:r>
          </a:p>
          <a:p>
            <a:r>
              <a:rPr lang="en-IN" sz="1400" dirty="0"/>
              <a:t>Identified sales trends </a:t>
            </a:r>
          </a:p>
          <a:p>
            <a:r>
              <a:rPr lang="en-IN" sz="1400" b="1" dirty="0"/>
              <a:t>Product Analysis:</a:t>
            </a:r>
          </a:p>
          <a:p>
            <a:r>
              <a:rPr lang="en-IN" sz="1400" dirty="0"/>
              <a:t>Compared category-wise sales performance </a:t>
            </a:r>
          </a:p>
          <a:p>
            <a:r>
              <a:rPr lang="en-IN" sz="1400" dirty="0"/>
              <a:t>Identified high-performing products </a:t>
            </a:r>
          </a:p>
          <a:p>
            <a:r>
              <a:rPr lang="en-IN" sz="1400" b="1" dirty="0"/>
              <a:t>Customer Analysis:</a:t>
            </a:r>
          </a:p>
          <a:p>
            <a:r>
              <a:rPr lang="en-IN" sz="1400" dirty="0" err="1"/>
              <a:t>Analyzed</a:t>
            </a:r>
            <a:r>
              <a:rPr lang="en-IN" sz="1400" dirty="0"/>
              <a:t> customer segments </a:t>
            </a:r>
          </a:p>
          <a:p>
            <a:r>
              <a:rPr lang="en-IN" sz="1400" dirty="0"/>
              <a:t>Studied purchasing contribution </a:t>
            </a:r>
          </a:p>
          <a:p>
            <a:r>
              <a:rPr lang="en-IN" sz="1400" b="1" dirty="0"/>
              <a:t>Regional Analysis:</a:t>
            </a:r>
          </a:p>
          <a:p>
            <a:r>
              <a:rPr lang="en-IN" sz="1400" dirty="0"/>
              <a:t>Compared sales performance across regions</a:t>
            </a:r>
          </a:p>
          <a:p>
            <a:endParaRPr lang="en-IN" sz="1400" dirty="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75B59069-FF5A-8F5E-6AE9-73D4FB1E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63" r="34429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46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3290-35D8-45B1-2AAA-E4BF772B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IN" sz="4100" b="1"/>
              <a:t>Power BI Dashboard</a:t>
            </a:r>
            <a:br>
              <a:rPr lang="en-IN" sz="4100" b="1"/>
            </a:br>
            <a:endParaRPr lang="en-IN" sz="41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F18B-6536-0863-7A87-258892032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Autofit/>
          </a:bodyPr>
          <a:lstStyle/>
          <a:p>
            <a:r>
              <a:rPr lang="en-IN" sz="1100" b="1" dirty="0"/>
              <a:t>Interactive Sales Dashboard</a:t>
            </a:r>
          </a:p>
          <a:p>
            <a:r>
              <a:rPr lang="en-IN" sz="1100" b="1" dirty="0"/>
              <a:t>Dashboard Features:</a:t>
            </a:r>
          </a:p>
          <a:p>
            <a:r>
              <a:rPr lang="en-IN" sz="1100" b="1" dirty="0"/>
              <a:t>KPI Cards:</a:t>
            </a:r>
          </a:p>
          <a:p>
            <a:r>
              <a:rPr lang="en-IN" sz="1100" dirty="0"/>
              <a:t>Total Sales </a:t>
            </a:r>
          </a:p>
          <a:p>
            <a:r>
              <a:rPr lang="en-IN" sz="1100" dirty="0"/>
              <a:t>Total Orders </a:t>
            </a:r>
          </a:p>
          <a:p>
            <a:r>
              <a:rPr lang="en-IN" sz="1100" b="1" dirty="0"/>
              <a:t>Visualizations:</a:t>
            </a:r>
          </a:p>
          <a:p>
            <a:r>
              <a:rPr lang="en-IN" sz="1100" dirty="0"/>
              <a:t>Sales Trend Analysis </a:t>
            </a:r>
          </a:p>
          <a:p>
            <a:r>
              <a:rPr lang="en-IN" sz="1100" dirty="0"/>
              <a:t>Category-wise Sales </a:t>
            </a:r>
          </a:p>
          <a:p>
            <a:r>
              <a:rPr lang="en-IN" sz="1100" dirty="0"/>
              <a:t>Regional Sales Performance </a:t>
            </a:r>
          </a:p>
          <a:p>
            <a:r>
              <a:rPr lang="en-IN" sz="1100" b="1" dirty="0"/>
              <a:t>Interactive Filters:</a:t>
            </a:r>
          </a:p>
          <a:p>
            <a:r>
              <a:rPr lang="en-IN" sz="1100" dirty="0"/>
              <a:t>Date </a:t>
            </a:r>
          </a:p>
          <a:p>
            <a:r>
              <a:rPr lang="en-IN" sz="1100" dirty="0"/>
              <a:t>Category </a:t>
            </a:r>
          </a:p>
          <a:p>
            <a:r>
              <a:rPr lang="en-IN" sz="1100" dirty="0"/>
              <a:t>Region</a:t>
            </a:r>
          </a:p>
          <a:p>
            <a:endParaRPr lang="en-IN" sz="1100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234BDD53-1685-DDC4-5C62-D849F2F9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92" r="31700"/>
          <a:stretch>
            <a:fillRect/>
          </a:stretch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4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8132-FDF9-0351-787A-40C7A54A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0" y="365760"/>
            <a:ext cx="5997678" cy="1325562"/>
          </a:xfrm>
        </p:spPr>
        <p:txBody>
          <a:bodyPr>
            <a:normAutofit/>
          </a:bodyPr>
          <a:lstStyle/>
          <a:p>
            <a:r>
              <a:rPr lang="en-IN" sz="2800" b="1"/>
              <a:t>Business Insights &amp; Recommendations</a:t>
            </a:r>
            <a:br>
              <a:rPr lang="en-IN" sz="2800" b="1"/>
            </a:br>
            <a:endParaRPr lang="en-IN" sz="2800"/>
          </a:p>
        </p:txBody>
      </p:sp>
      <p:pic>
        <p:nvPicPr>
          <p:cNvPr id="5" name="Picture 4" descr="Person holding a puzzle piece">
            <a:extLst>
              <a:ext uri="{FF2B5EF4-FFF2-40B4-BE49-F238E27FC236}">
                <a16:creationId xmlns:a16="http://schemas.microsoft.com/office/drawing/2014/main" id="{A71EA448-E70C-8761-F57B-0DF293AEA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78" r="26852" b="-1"/>
          <a:stretch>
            <a:fillRect/>
          </a:stretch>
        </p:blipFill>
        <p:spPr>
          <a:xfrm>
            <a:off x="20" y="10"/>
            <a:ext cx="465329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D3F18-0E8B-6480-5F52-777D4BED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0" y="1484784"/>
            <a:ext cx="6015571" cy="41743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Key Insights</a:t>
            </a:r>
          </a:p>
          <a:p>
            <a:pPr marL="0" indent="0">
              <a:buNone/>
            </a:pPr>
            <a:r>
              <a:rPr lang="en-IN" sz="1400" b="1" dirty="0"/>
              <a:t>1. Product Strategy</a:t>
            </a:r>
          </a:p>
          <a:p>
            <a:r>
              <a:rPr lang="en-IN" sz="1400" dirty="0"/>
              <a:t>Focus on high-performing product categories. </a:t>
            </a:r>
          </a:p>
          <a:p>
            <a:r>
              <a:rPr lang="en-IN" sz="1400" dirty="0"/>
              <a:t>Improve inventory planning based on demand. </a:t>
            </a:r>
          </a:p>
          <a:p>
            <a:pPr marL="0" indent="0">
              <a:buNone/>
            </a:pPr>
            <a:r>
              <a:rPr lang="en-IN" sz="1400" b="1" dirty="0"/>
              <a:t>2. Discount Optimization</a:t>
            </a:r>
          </a:p>
          <a:p>
            <a:r>
              <a:rPr lang="en-IN" sz="1400" dirty="0" err="1"/>
              <a:t>Analyze</a:t>
            </a:r>
            <a:r>
              <a:rPr lang="en-IN" sz="1400" dirty="0"/>
              <a:t> discount impact on sales. </a:t>
            </a:r>
          </a:p>
          <a:p>
            <a:r>
              <a:rPr lang="en-IN" sz="1400" dirty="0"/>
              <a:t>Apply strategic pricing approaches. </a:t>
            </a:r>
          </a:p>
          <a:p>
            <a:pPr marL="0" indent="0">
              <a:buNone/>
            </a:pPr>
            <a:r>
              <a:rPr lang="en-IN" sz="1400" b="1" dirty="0"/>
              <a:t>3. Customer Targeting</a:t>
            </a:r>
          </a:p>
          <a:p>
            <a:r>
              <a:rPr lang="en-IN" sz="1400" dirty="0"/>
              <a:t>Identify valuable customer segments. </a:t>
            </a:r>
          </a:p>
          <a:p>
            <a:r>
              <a:rPr lang="en-IN" sz="1400" dirty="0"/>
              <a:t>Create personalized marketing strategies. </a:t>
            </a:r>
          </a:p>
          <a:p>
            <a:pPr marL="0" indent="0">
              <a:buNone/>
            </a:pPr>
            <a:r>
              <a:rPr lang="en-IN" sz="1400" b="1" dirty="0"/>
              <a:t>4. Regional Growth</a:t>
            </a:r>
          </a:p>
          <a:p>
            <a:r>
              <a:rPr lang="en-IN" sz="1400" dirty="0"/>
              <a:t>Improve marketing efforts in high-potential regions. </a:t>
            </a:r>
          </a:p>
          <a:p>
            <a:r>
              <a:rPr lang="en-IN" sz="1400" dirty="0"/>
              <a:t>Optimize resource allocation.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601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58EC8D-68D1-4138-B719-BE00C78AD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0"/>
            <a:ext cx="122072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579E4-5B5F-42C9-B08F-A904C81B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811"/>
            <a:ext cx="2556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11A95-C669-50C0-FA76-E1954D13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2904" y="2514944"/>
            <a:ext cx="5054601" cy="1955108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Conclusion &amp; Future Scope</a:t>
            </a:r>
            <a:br>
              <a:rPr lang="en-IN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5A1C-C49C-855B-86DC-908C58E0A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654" y="965199"/>
            <a:ext cx="6670520" cy="5207002"/>
          </a:xfrm>
          <a:noFill/>
        </p:spPr>
        <p:txBody>
          <a:bodyPr anchor="t">
            <a:normAutofit/>
          </a:bodyPr>
          <a:lstStyle/>
          <a:p>
            <a:r>
              <a:rPr lang="en-IN" sz="1500" b="1" dirty="0"/>
              <a:t>Conclusion</a:t>
            </a:r>
          </a:p>
          <a:p>
            <a:r>
              <a:rPr lang="en-IN" sz="1500" dirty="0"/>
              <a:t>The project successfully transformed raw Amazon sales data into meaningful business insights using Python EDA and Power BI. </a:t>
            </a:r>
          </a:p>
          <a:p>
            <a:r>
              <a:rPr lang="en-IN" sz="1500" dirty="0"/>
              <a:t>Data cleaning and exploratory analysis helped identify important sales trends, customer </a:t>
            </a:r>
            <a:r>
              <a:rPr lang="en-IN" sz="1500" dirty="0" err="1"/>
              <a:t>behavior</a:t>
            </a:r>
            <a:r>
              <a:rPr lang="en-IN" sz="1500" dirty="0"/>
              <a:t>, and product performance. </a:t>
            </a:r>
          </a:p>
          <a:p>
            <a:r>
              <a:rPr lang="en-IN" sz="1500" dirty="0"/>
              <a:t>The Power BI dashboard provides an interactive platform for monitoring business KPIs and supporting decision-making. </a:t>
            </a:r>
          </a:p>
          <a:p>
            <a:r>
              <a:rPr lang="en-IN" sz="1500" dirty="0"/>
              <a:t>The project demonstrates how data analytics can help organizations improve sales strategies and achieve better business outcomes. </a:t>
            </a:r>
          </a:p>
          <a:p>
            <a:r>
              <a:rPr lang="en-IN" sz="1500" b="1" dirty="0"/>
              <a:t>Future Scope:</a:t>
            </a:r>
          </a:p>
          <a:p>
            <a:r>
              <a:rPr lang="en-IN" sz="1500" dirty="0"/>
              <a:t>Integrate real-time sales data. </a:t>
            </a:r>
          </a:p>
          <a:p>
            <a:r>
              <a:rPr lang="en-IN" sz="1500" dirty="0"/>
              <a:t>Add automated reporting systems. </a:t>
            </a:r>
          </a:p>
          <a:p>
            <a:r>
              <a:rPr lang="en-IN" sz="1500" dirty="0"/>
              <a:t>Implement advanced predictive analytics. </a:t>
            </a:r>
          </a:p>
          <a:p>
            <a:r>
              <a:rPr lang="en-IN" sz="1500" dirty="0"/>
              <a:t>Connect dashboards with live databases. </a:t>
            </a:r>
          </a:p>
          <a:p>
            <a:endParaRPr lang="en-IN" sz="1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BF6CF-E1B8-4EE2-9AE1-86A58DAFD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4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E021BD-1116-4F17-9FD8-FEB0B1D25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BB8D9755-21FC-9B40-D3D3-7F564A16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08" b="26113"/>
          <a:stretch>
            <a:fillRect/>
          </a:stretch>
        </p:blipFill>
        <p:spPr>
          <a:xfrm>
            <a:off x="20" y="10"/>
            <a:ext cx="11292820" cy="51053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4053421-3C7E-4167-AAC2-1B30B2C01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2811"/>
            <a:ext cx="11292842" cy="5108211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A0CC0-EABA-5BA3-AD24-8522A13E2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368300"/>
            <a:ext cx="8263128" cy="4603750"/>
          </a:xfrm>
          <a:noFill/>
        </p:spPr>
        <p:txBody>
          <a:bodyPr anchor="b">
            <a:normAutofit/>
          </a:bodyPr>
          <a:lstStyle/>
          <a:p>
            <a:r>
              <a:rPr lang="en-IN" sz="54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71DD9B-7A66-493F-BB4A-1CF4294C6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90FFF-DEC8-14BB-FB07-511DABE3A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5340351"/>
            <a:ext cx="9418320" cy="1193800"/>
          </a:xfrm>
        </p:spPr>
        <p:txBody>
          <a:bodyPr anchor="t">
            <a:normAutofit/>
          </a:bodyPr>
          <a:lstStyle/>
          <a:p>
            <a:endParaRPr lang="en-IN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41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3346F-C811-4404-B626-0E7631B212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A384A2-DC2C-4578-B8CE-512657D68B32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71af3243-3dd4-4a8d-8c0d-dd76da1f02a5"/>
    <ds:schemaRef ds:uri="16c05727-aa75-4e4a-9b5f-8a80a1165891"/>
    <ds:schemaRef ds:uri="http://schemas.microsoft.com/office/infopath/2007/PartnerControls"/>
    <ds:schemaRef ds:uri="230e9df3-be65-4c73-a93b-d1236ebd677e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E911A2-2017-41E4-8340-9C55208FC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26</TotalTime>
  <Words>562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 Amazon Sales Analysis and Interactive Dashboard Development Using Python &amp; Power BI </vt:lpstr>
      <vt:lpstr>INTRODUCTION</vt:lpstr>
      <vt:lpstr>PROBLEM STATEMENT</vt:lpstr>
      <vt:lpstr>Objectives </vt:lpstr>
      <vt:lpstr>Tools and Technologies Used </vt:lpstr>
      <vt:lpstr>Project Workflow </vt:lpstr>
      <vt:lpstr>Exploratory Data Analysis (EDA) </vt:lpstr>
      <vt:lpstr>Power BI Dashboard </vt:lpstr>
      <vt:lpstr>Business Insights &amp; Recommendations </vt:lpstr>
      <vt:lpstr>Conclusion &amp; Future Scope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NASINA (RA2211026010455)</dc:creator>
  <cp:lastModifiedBy>CHANDRA SEKHAR NASINA (RA2211026010455)</cp:lastModifiedBy>
  <cp:revision>2</cp:revision>
  <dcterms:created xsi:type="dcterms:W3CDTF">2026-07-26T18:28:56Z</dcterms:created>
  <dcterms:modified xsi:type="dcterms:W3CDTF">2026-07-26T18:55:50Z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